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66" r:id="rId4"/>
    <p:sldId id="267" r:id="rId5"/>
    <p:sldId id="258" r:id="rId6"/>
    <p:sldId id="259" r:id="rId7"/>
    <p:sldId id="268" r:id="rId8"/>
    <p:sldId id="260" r:id="rId9"/>
    <p:sldId id="261" r:id="rId10"/>
    <p:sldId id="269" r:id="rId11"/>
    <p:sldId id="263" r:id="rId12"/>
    <p:sldId id="264" r:id="rId13"/>
    <p:sldId id="265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1" d="100"/>
          <a:sy n="81" d="100"/>
        </p:scale>
        <p:origin x="86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ba9b95d6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ba9b95d6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a9b95d69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a9b95d69f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a9b95d69f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a9b95d69f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a9b95d69f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a9b95d69f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a9b95d69f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a9b95d69f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a9b95d69f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a9b95d69f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 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8d3d58be3_4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8d3d58be3_4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a9b95d69f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a9b95d69f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8d3d58be3_25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8d3d58be3_25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TITLE_AND_BODY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app.cirkitdesigner.com/project/f8678125-8144-4f5b-bdfb-b81c9f71e1d2" TargetMode="External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jp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 title="image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0447" y="182393"/>
            <a:ext cx="2080525" cy="127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4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6369" y="102594"/>
            <a:ext cx="1435475" cy="14354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/>
          <p:nvPr/>
        </p:nvSpPr>
        <p:spPr>
          <a:xfrm>
            <a:off x="793932" y="1634446"/>
            <a:ext cx="7241400" cy="13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 i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DAYALBAGH EDUCATIONAL INSTITUTE X </a:t>
            </a:r>
            <a:br>
              <a:rPr lang="en-GB" sz="2500" b="1" i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GB" sz="2500" b="1" i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VIRTUAL LABS HACKATHON 2026</a:t>
            </a:r>
            <a:endParaRPr sz="2500" b="1" i="1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97732" y="3010306"/>
            <a:ext cx="8838176" cy="1795237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0446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Team name: Footwear Team 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Leader name: Saurabh Sharma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Institute name: </a:t>
            </a:r>
            <a:r>
              <a:rPr lang="en-GB" sz="1400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Dayalbagh</a:t>
            </a:r>
            <a:r>
              <a:rPr lang="en-GB" sz="14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education institute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PS Title</a:t>
            </a:r>
            <a:r>
              <a:rPr lang="en-GB" sz="800" b="1" u="sng" dirty="0">
                <a:solidFill>
                  <a:schemeClr val="lt1"/>
                </a:solidFill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GB" sz="1800" b="1" u="sng" dirty="0">
                <a:highlight>
                  <a:srgbClr val="FFFF00"/>
                </a:highlight>
              </a:rPr>
              <a:t> </a:t>
            </a:r>
            <a:r>
              <a:rPr lang="en-GB" sz="1050" b="1" u="sng" dirty="0">
                <a:highlight>
                  <a:srgbClr val="FFFF00"/>
                </a:highlight>
              </a:rPr>
              <a:t>DEVELOPMENT OF ANAUTOMATIC FOOT MEASUREMENT SYSTEM ARCH SYSTEM USING ARDUINO AND UTRASONIC SENSORS </a:t>
            </a:r>
            <a:endParaRPr lang="en-GB" sz="1400" b="1" u="sng" dirty="0">
              <a:solidFill>
                <a:schemeClr val="lt1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166430" y="3099443"/>
            <a:ext cx="8496403" cy="1616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u="sng" dirty="0">
              <a:solidFill>
                <a:schemeClr val="lt1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/>
          <p:nvPr/>
        </p:nvSpPr>
        <p:spPr>
          <a:xfrm>
            <a:off x="848550" y="0"/>
            <a:ext cx="7590600" cy="445200"/>
          </a:xfrm>
          <a:prstGeom prst="rect">
            <a:avLst/>
          </a:prstGeom>
          <a:solidFill>
            <a:srgbClr val="02263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107873" y="51162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Problem Statement</a:t>
            </a:r>
            <a:endParaRPr dirty="0"/>
          </a:p>
        </p:txBody>
      </p:sp>
      <p:pic>
        <p:nvPicPr>
          <p:cNvPr id="66" name="Google Shape;66;p15" title="image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79650" cy="4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2965700" y="0"/>
            <a:ext cx="38100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DEI X VIRTUAL LABS HACKATHON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107873" y="956825"/>
            <a:ext cx="8308847" cy="3570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2000" dirty="0"/>
              <a:t>Traditional foot measurement methods used in footwear selection are mostly manual, time-consuming, and prone to human error. These methods generally measure only foot length and width, while ignoring important parameters such as foot arch pressure and plantar pressure distribution. As a result, improper shoe sizing and poor arch support lead to discomfort, foot pain, and long-term </a:t>
            </a:r>
            <a:r>
              <a:rPr lang="en-GB" sz="2000" dirty="0" err="1"/>
              <a:t>orthopedic</a:t>
            </a:r>
            <a:r>
              <a:rPr lang="en-GB" sz="2000" dirty="0"/>
              <a:t> problems.</a:t>
            </a:r>
          </a:p>
          <a:p>
            <a:r>
              <a:rPr lang="en-GB" sz="2000" dirty="0"/>
              <a:t>Advanced 3D foot scanning systems are available, but they are expensive and not suitable for small footwear industries, retail shops, or educational institutions. Therefore, there is a need for a </a:t>
            </a:r>
            <a:r>
              <a:rPr lang="en-GB" sz="2000" b="1" dirty="0"/>
              <a:t>low-cost, accurate, and automated foot measurement system</a:t>
            </a:r>
            <a:r>
              <a:rPr lang="en-GB" sz="2000" dirty="0"/>
              <a:t> that can measure foot length, width, and arch pressure efficiently.</a:t>
            </a:r>
          </a:p>
        </p:txBody>
      </p:sp>
      <p:pic>
        <p:nvPicPr>
          <p:cNvPr id="69" name="Google Shape;69;p15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2597" y="1"/>
            <a:ext cx="511625" cy="5116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0" y="4946525"/>
            <a:ext cx="9144000" cy="181800"/>
          </a:xfrm>
          <a:prstGeom prst="rect">
            <a:avLst/>
          </a:prstGeom>
          <a:solidFill>
            <a:srgbClr val="00446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AEC289-B12D-405C-8221-1BB4D8F19FB0}"/>
              </a:ext>
            </a:extLst>
          </p:cNvPr>
          <p:cNvSpPr txBox="1"/>
          <p:nvPr/>
        </p:nvSpPr>
        <p:spPr>
          <a:xfrm>
            <a:off x="149773" y="370482"/>
            <a:ext cx="45720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Target Users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Footwear Manufacturers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For accurate foot measurement and arch analysis during shoe design and sizing.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Footwear Retail Stores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To help customers select correct shoe size and proper arch-support footwear.</a:t>
            </a:r>
          </a:p>
          <a:p>
            <a:pPr>
              <a:buFont typeface="+mj-lt"/>
              <a:buAutoNum type="arabicPeriod"/>
            </a:pPr>
            <a:r>
              <a:rPr lang="en-GB" b="1" dirty="0" err="1"/>
              <a:t>Orthopedic</a:t>
            </a:r>
            <a:r>
              <a:rPr lang="en-GB" b="1" dirty="0"/>
              <a:t> Clinics &amp; Podiatrists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For basic foot screening and arch type identification.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Sports Persons &amp; Athletes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To select performance shoes based on foot pressure and arch type.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Students &amp; Educational Institutes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For learning and research in biomechanics, footwear technology, and embedded systems.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Small &amp; Medium Footwear Units (SMEs)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As a low-cost alternative to expensive 3D foot scanners.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C5E297-59E8-4DED-BF80-696B1A27D09E}"/>
              </a:ext>
            </a:extLst>
          </p:cNvPr>
          <p:cNvSpPr txBox="1"/>
          <p:nvPr/>
        </p:nvSpPr>
        <p:spPr>
          <a:xfrm>
            <a:off x="4572000" y="370481"/>
            <a:ext cx="45720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Target Users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Footwear Manufacturers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For accurate foot measurement and arch analysis during shoe design and sizing.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Footwear Retail Stores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To help customers select correct shoe size and proper arch-support footwear.</a:t>
            </a:r>
          </a:p>
          <a:p>
            <a:pPr>
              <a:buFont typeface="+mj-lt"/>
              <a:buAutoNum type="arabicPeriod"/>
            </a:pPr>
            <a:r>
              <a:rPr lang="en-GB" b="1" dirty="0" err="1"/>
              <a:t>Orthopedic</a:t>
            </a:r>
            <a:r>
              <a:rPr lang="en-GB" b="1" dirty="0"/>
              <a:t> Clinics &amp; Podiatrists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For basic foot screening and arch type identification.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Sports Persons &amp; Athletes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To select performance shoes based on foot pressure and arch type.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Students &amp; Educational Institutes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For learning and research in biomechanics, footwear technology, and embedded systems.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Small &amp; Medium Footwear Units (SMEs)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As a low-cost alternative to expensive 3D foot scanners.</a:t>
            </a:r>
          </a:p>
        </p:txBody>
      </p:sp>
    </p:spTree>
    <p:extLst>
      <p:ext uri="{BB962C8B-B14F-4D97-AF65-F5344CB8AC3E}">
        <p14:creationId xmlns:p14="http://schemas.microsoft.com/office/powerpoint/2010/main" val="1379814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F9B086-92B6-4AF1-A4A4-38DEDB4B9A18}"/>
              </a:ext>
            </a:extLst>
          </p:cNvPr>
          <p:cNvSpPr txBox="1"/>
          <p:nvPr/>
        </p:nvSpPr>
        <p:spPr>
          <a:xfrm>
            <a:off x="126124" y="0"/>
            <a:ext cx="4572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What Problems Exist Today?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Manual Foot Measurement Errors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Traditional tape and scale methods are inaccurate and depend on human skill.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Only Length &amp; Width Are Measured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Important factors like </a:t>
            </a:r>
            <a:r>
              <a:rPr lang="en-GB" b="1" dirty="0"/>
              <a:t>foot arch</a:t>
            </a:r>
            <a:r>
              <a:rPr lang="en-GB" dirty="0"/>
              <a:t> and </a:t>
            </a:r>
            <a:r>
              <a:rPr lang="en-GB" b="1" dirty="0"/>
              <a:t>pressure distribution</a:t>
            </a:r>
            <a:r>
              <a:rPr lang="en-GB" dirty="0"/>
              <a:t> are ignored.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Improper Shoe Fit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Wrong shoe size causes discomfort, blisters, foot pain, and posture issues.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No Arch-Based Footwear Selection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Flat foot or high arch users are not identified properly.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High Cost of Advanced Systems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3D foot scanners and pressure-mapping systems are very expensive.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Not Accessible to Small Industries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Small footwear manufacturers and retail shops cannot afford advanced technology.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Higher Product Returns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Wrong size and poor comfort lead to increased customer returns and losses.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382A8C-74AE-46BA-A388-A456C0938B31}"/>
              </a:ext>
            </a:extLst>
          </p:cNvPr>
          <p:cNvSpPr txBox="1"/>
          <p:nvPr/>
        </p:nvSpPr>
        <p:spPr>
          <a:xfrm>
            <a:off x="4445876" y="347999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GB" b="1" dirty="0"/>
              <a:t>Lack of Customization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Footwear is mostly mass-produced, not personalized to foot shape or pressure.</a:t>
            </a:r>
          </a:p>
        </p:txBody>
      </p:sp>
    </p:spTree>
    <p:extLst>
      <p:ext uri="{BB962C8B-B14F-4D97-AF65-F5344CB8AC3E}">
        <p14:creationId xmlns:p14="http://schemas.microsoft.com/office/powerpoint/2010/main" val="1300048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4995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GB" sz="1200" b="1" dirty="0"/>
              <a:t>What the Solution Aims to Achieve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dirty="0"/>
              <a:t>To develop a </a:t>
            </a:r>
            <a:r>
              <a:rPr lang="en-GB" sz="1200" b="1" dirty="0"/>
              <a:t>low-cost, automatic foot measurement system</a:t>
            </a:r>
            <a:r>
              <a:rPr lang="en-GB" sz="1200" dirty="0"/>
              <a:t> using Arduino and ultrasonic sensors.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dirty="0"/>
              <a:t>To accurately measure </a:t>
            </a:r>
            <a:r>
              <a:rPr lang="en-GB" sz="1200" b="1" dirty="0"/>
              <a:t>foot length, width, and arch pressure</a:t>
            </a:r>
            <a:r>
              <a:rPr lang="en-GB" sz="1200" dirty="0"/>
              <a:t> without manual intervention.</a:t>
            </a:r>
          </a:p>
          <a:p>
            <a:r>
              <a:rPr lang="en-GB" sz="1200" b="1" dirty="0"/>
              <a:t>Key Features and Functionality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dirty="0"/>
              <a:t>Automatic Measurement</a:t>
            </a:r>
            <a:r>
              <a:rPr lang="en-GB" sz="1200" dirty="0"/>
              <a:t> of foot length and width using ultrasonic sensors.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dirty="0"/>
              <a:t>Arch Pressure Detection</a:t>
            </a:r>
            <a:r>
              <a:rPr lang="en-GB" sz="1200" dirty="0"/>
              <a:t> using FSR402 pressure sensor.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dirty="0"/>
              <a:t>Real-time Display</a:t>
            </a:r>
            <a:r>
              <a:rPr lang="en-GB" sz="1200" dirty="0"/>
              <a:t> of measurements on 16×2 I2C LCD.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dirty="0"/>
              <a:t>Arch Type Identification</a:t>
            </a:r>
            <a:r>
              <a:rPr lang="en-GB" sz="1200" dirty="0"/>
              <a:t> (Flat / Normal / High).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dirty="0"/>
              <a:t>Audio Alert System</a:t>
            </a:r>
            <a:r>
              <a:rPr lang="en-GB" sz="1200" dirty="0"/>
              <a:t> using buzzer for abnormal pressure conditions.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dirty="0"/>
              <a:t>User-friendly &amp; Portable Design</a:t>
            </a:r>
            <a:r>
              <a:rPr lang="en-GB" sz="1200" dirty="0"/>
              <a:t> suitable for retail and lab 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dirty="0"/>
              <a:t>Low Power and Low Cost</a:t>
            </a:r>
            <a:r>
              <a:rPr lang="en-GB" sz="1200" dirty="0"/>
              <a:t> hardware implementation.</a:t>
            </a:r>
          </a:p>
          <a:p>
            <a:r>
              <a:rPr lang="en-GB" sz="1200" b="1" dirty="0"/>
              <a:t>Alignment with Virtual Labs Mission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dirty="0"/>
              <a:t>Supports </a:t>
            </a:r>
            <a:r>
              <a:rPr lang="en-GB" sz="1200" b="1" dirty="0"/>
              <a:t>hands-on learning</a:t>
            </a:r>
            <a:r>
              <a:rPr lang="en-GB" sz="1200" dirty="0"/>
              <a:t> through real-time sensor data and embedded system design.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dirty="0"/>
              <a:t>Enables students to </a:t>
            </a:r>
            <a:r>
              <a:rPr lang="en-GB" sz="1200" b="1" dirty="0"/>
              <a:t>experiment, observe, and </a:t>
            </a:r>
            <a:r>
              <a:rPr lang="en-GB" sz="1200" b="1" dirty="0" err="1"/>
              <a:t>analyze</a:t>
            </a:r>
            <a:r>
              <a:rPr lang="en-GB" sz="1200" dirty="0"/>
              <a:t> foot biomechanics virtually and physically.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200"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311700" y="7717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Your Solution &amp; Innovation</a:t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0" y="4946525"/>
            <a:ext cx="9144000" cy="181800"/>
          </a:xfrm>
          <a:prstGeom prst="rect">
            <a:avLst/>
          </a:prstGeom>
          <a:solidFill>
            <a:srgbClr val="00446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370150" y="-3"/>
            <a:ext cx="4403700" cy="2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DEI X VIRTUAL LAB HACKATHON 2026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848550" y="0"/>
            <a:ext cx="7590600" cy="445200"/>
          </a:xfrm>
          <a:prstGeom prst="rect">
            <a:avLst/>
          </a:prstGeom>
          <a:solidFill>
            <a:srgbClr val="02263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" name="Google Shape;81;p16" title="image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79650" cy="4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2813300" y="0"/>
            <a:ext cx="38697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DEI X VIRTUAL LABS HACKATHON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83" name="Google Shape;83;p16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2597" y="1"/>
            <a:ext cx="511625" cy="5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269964" y="72581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Architecture Diagram</a:t>
            </a:r>
            <a:endParaRPr dirty="0"/>
          </a:p>
        </p:txBody>
      </p:sp>
      <p:sp>
        <p:nvSpPr>
          <p:cNvPr id="89" name="Google Shape;89;p17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DEI X VIRTUAL LAB HACKATHON 2026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0" y="4946525"/>
            <a:ext cx="9144000" cy="181800"/>
          </a:xfrm>
          <a:prstGeom prst="rect">
            <a:avLst/>
          </a:prstGeom>
          <a:solidFill>
            <a:srgbClr val="00446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848550" y="0"/>
            <a:ext cx="7590600" cy="445200"/>
          </a:xfrm>
          <a:prstGeom prst="rect">
            <a:avLst/>
          </a:prstGeom>
          <a:solidFill>
            <a:srgbClr val="02263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" name="Google Shape;93;p17" title="image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79650" cy="4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/>
        </p:nvSpPr>
        <p:spPr>
          <a:xfrm>
            <a:off x="2813300" y="0"/>
            <a:ext cx="41367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DEI X VIRTUAL LABS HACKATHON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5" name="Google Shape;95;p17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2597" y="1"/>
            <a:ext cx="511625" cy="51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8FFD83D-94D1-4FB7-BF9B-092A1E5A5BC4}"/>
              </a:ext>
            </a:extLst>
          </p:cNvPr>
          <p:cNvSpPr txBox="1"/>
          <p:nvPr/>
        </p:nvSpPr>
        <p:spPr>
          <a:xfrm>
            <a:off x="199040" y="1261738"/>
            <a:ext cx="457594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┌───────────────────────────┐</a:t>
            </a:r>
          </a:p>
          <a:p>
            <a:r>
              <a:rPr lang="en-GB" dirty="0"/>
              <a:t>│ User / Foot │</a:t>
            </a:r>
          </a:p>
          <a:p>
            <a:r>
              <a:rPr lang="en-GB" dirty="0"/>
              <a:t>│ (Placed on Measurement) │</a:t>
            </a:r>
          </a:p>
          <a:p>
            <a:r>
              <a:rPr lang="en-GB" dirty="0"/>
              <a:t>└─────────────┬─────────────┘</a:t>
            </a:r>
          </a:p>
          <a:p>
            <a:r>
              <a:rPr lang="en-GB" dirty="0"/>
              <a:t>│</a:t>
            </a:r>
          </a:p>
          <a:p>
            <a:r>
              <a:rPr lang="en-GB" dirty="0"/>
              <a:t>┌───────────▼───────────┐</a:t>
            </a:r>
          </a:p>
          <a:p>
            <a:r>
              <a:rPr lang="en-GB" dirty="0"/>
              <a:t>│ Sensor Layer │</a:t>
            </a:r>
          </a:p>
          <a:p>
            <a:r>
              <a:rPr lang="en-GB" dirty="0"/>
              <a:t>│ │</a:t>
            </a:r>
          </a:p>
          <a:p>
            <a:r>
              <a:rPr lang="en-GB" dirty="0"/>
              <a:t>│ • Ultrasonic Sensor │───► Foot Length</a:t>
            </a:r>
          </a:p>
          <a:p>
            <a:r>
              <a:rPr lang="en-GB" dirty="0"/>
              <a:t>│ • Ultrasonic Sensor │───► Foot Width</a:t>
            </a:r>
          </a:p>
          <a:p>
            <a:r>
              <a:rPr lang="en-GB" dirty="0"/>
              <a:t>│ • FSR402 Pressure │───► Arch Pressure</a:t>
            </a:r>
          </a:p>
          <a:p>
            <a:r>
              <a:rPr lang="en-GB" dirty="0"/>
              <a:t>│ Sensor │</a:t>
            </a:r>
          </a:p>
          <a:p>
            <a:r>
              <a:rPr lang="en-GB" dirty="0"/>
              <a:t>└───────────┬───────────┘</a:t>
            </a:r>
          </a:p>
          <a:p>
            <a:r>
              <a:rPr lang="en-GB" dirty="0"/>
              <a:t>│ Analog / Digital Signals</a:t>
            </a:r>
          </a:p>
          <a:p>
            <a:r>
              <a:rPr lang="en-GB" dirty="0"/>
              <a:t>┌───────────▼───────────┐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BC47B4-BC6D-46CA-8C82-1F4DFC7899B6}"/>
              </a:ext>
            </a:extLst>
          </p:cNvPr>
          <p:cNvSpPr txBox="1"/>
          <p:nvPr/>
        </p:nvSpPr>
        <p:spPr>
          <a:xfrm>
            <a:off x="4369020" y="1369459"/>
            <a:ext cx="457594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┌───────────▼───────────┐</a:t>
            </a:r>
          </a:p>
          <a:p>
            <a:r>
              <a:rPr lang="en-GB" dirty="0"/>
              <a:t>│ Arduino UNO │</a:t>
            </a:r>
          </a:p>
          <a:p>
            <a:r>
              <a:rPr lang="en-GB" dirty="0"/>
              <a:t>│ (Processing Unit) │</a:t>
            </a:r>
          </a:p>
          <a:p>
            <a:r>
              <a:rPr lang="en-GB" dirty="0"/>
              <a:t>│ │</a:t>
            </a:r>
          </a:p>
          <a:p>
            <a:r>
              <a:rPr lang="en-GB" dirty="0"/>
              <a:t>│ • Data Acquisition │</a:t>
            </a:r>
          </a:p>
          <a:p>
            <a:r>
              <a:rPr lang="en-GB" dirty="0"/>
              <a:t>│ • Signal Processing │</a:t>
            </a:r>
          </a:p>
          <a:p>
            <a:r>
              <a:rPr lang="en-GB" dirty="0"/>
              <a:t>│ • Arch Classification│</a:t>
            </a:r>
          </a:p>
          <a:p>
            <a:r>
              <a:rPr lang="en-GB" dirty="0"/>
              <a:t>└───────┬─────┬─────────┘</a:t>
            </a:r>
          </a:p>
          <a:p>
            <a:r>
              <a:rPr lang="en-GB" dirty="0"/>
              <a:t>│ │</a:t>
            </a:r>
          </a:p>
          <a:p>
            <a:r>
              <a:rPr lang="en-GB" dirty="0"/>
              <a:t>┌─────────▼─┐ ┌─▼─────────┐</a:t>
            </a:r>
          </a:p>
          <a:p>
            <a:r>
              <a:rPr lang="en-GB" dirty="0"/>
              <a:t>│ LCD 16×2 │ │ Buzzer │</a:t>
            </a:r>
          </a:p>
          <a:p>
            <a:r>
              <a:rPr lang="en-GB" dirty="0"/>
              <a:t>│ (I2C) │ │ (Alert) │</a:t>
            </a:r>
          </a:p>
          <a:p>
            <a:r>
              <a:rPr lang="en-GB" dirty="0"/>
              <a:t>└────────────┘ └───────────┘</a:t>
            </a:r>
          </a:p>
          <a:p>
            <a:r>
              <a:rPr lang="en-GB" dirty="0"/>
              <a:t>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0F9FE2-5E37-4CA0-8386-81251B1C1FED}"/>
              </a:ext>
            </a:extLst>
          </p:cNvPr>
          <p:cNvSpPr txBox="1"/>
          <p:nvPr/>
        </p:nvSpPr>
        <p:spPr>
          <a:xfrm>
            <a:off x="2191407" y="1106103"/>
            <a:ext cx="4572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┌─────────▼─────────┐</a:t>
            </a:r>
          </a:p>
          <a:p>
            <a:r>
              <a:rPr lang="en-GB" sz="2000" dirty="0"/>
              <a:t>│ Output Results │</a:t>
            </a:r>
          </a:p>
          <a:p>
            <a:r>
              <a:rPr lang="en-GB" sz="2000" dirty="0"/>
              <a:t>│ │</a:t>
            </a:r>
          </a:p>
          <a:p>
            <a:r>
              <a:rPr lang="en-GB" sz="2000" dirty="0"/>
              <a:t>│ • Foot Length │</a:t>
            </a:r>
          </a:p>
          <a:p>
            <a:r>
              <a:rPr lang="en-GB" sz="2000" dirty="0"/>
              <a:t>│ • Foot Width │</a:t>
            </a:r>
          </a:p>
          <a:p>
            <a:r>
              <a:rPr lang="en-GB" sz="2000" dirty="0"/>
              <a:t>│ • Arch Type │</a:t>
            </a:r>
          </a:p>
          <a:p>
            <a:r>
              <a:rPr lang="en-GB" sz="2000" dirty="0"/>
              <a:t>│ • User Feedback │</a:t>
            </a:r>
          </a:p>
          <a:p>
            <a:r>
              <a:rPr lang="en-GB" sz="2000" dirty="0"/>
              <a:t>└───────────────────┘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738607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>
            <a:spLocks noGrp="1"/>
          </p:cNvSpPr>
          <p:nvPr>
            <p:ph type="title"/>
          </p:nvPr>
        </p:nvSpPr>
        <p:spPr>
          <a:xfrm>
            <a:off x="311700" y="758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Technical Stack</a:t>
            </a:r>
            <a:endParaRPr dirty="0"/>
          </a:p>
        </p:txBody>
      </p:sp>
      <p:sp>
        <p:nvSpPr>
          <p:cNvPr id="101" name="Google Shape;101;p18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DEI X VIRTUAL LAB HACKATHON 2026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0" y="4946525"/>
            <a:ext cx="9144000" cy="181800"/>
          </a:xfrm>
          <a:prstGeom prst="rect">
            <a:avLst/>
          </a:prstGeom>
          <a:solidFill>
            <a:srgbClr val="00446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8"/>
          <p:cNvSpPr/>
          <p:nvPr/>
        </p:nvSpPr>
        <p:spPr>
          <a:xfrm>
            <a:off x="848550" y="0"/>
            <a:ext cx="7590600" cy="445200"/>
          </a:xfrm>
          <a:prstGeom prst="rect">
            <a:avLst/>
          </a:prstGeom>
          <a:solidFill>
            <a:srgbClr val="02263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5" name="Google Shape;105;p18" title="image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79650" cy="4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 txBox="1"/>
          <p:nvPr/>
        </p:nvSpPr>
        <p:spPr>
          <a:xfrm>
            <a:off x="2813300" y="0"/>
            <a:ext cx="42531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DEI X VIRTUAL LABS HACKATHON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7" name="Google Shape;107;p18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2597" y="1"/>
            <a:ext cx="511625" cy="5116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AD86960-8C32-4E02-ACC8-6C6F4F983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529772"/>
              </p:ext>
            </p:extLst>
          </p:nvPr>
        </p:nvGraphicFramePr>
        <p:xfrm>
          <a:off x="256709" y="1531876"/>
          <a:ext cx="8521700" cy="1971040"/>
        </p:xfrm>
        <a:graphic>
          <a:graphicData uri="http://schemas.openxmlformats.org/drawingml/2006/table">
            <a:tbl>
              <a:tblPr/>
              <a:tblGrid>
                <a:gridCol w="4260850">
                  <a:extLst>
                    <a:ext uri="{9D8B030D-6E8A-4147-A177-3AD203B41FA5}">
                      <a16:colId xmlns:a16="http://schemas.microsoft.com/office/drawing/2014/main" val="3538812790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39278474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GB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Component</a:t>
                      </a:r>
                      <a:endParaRPr lang="en-GB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Connected to Arduino Pin</a:t>
                      </a:r>
                      <a:endParaRPr lang="en-GB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9138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GB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HC-SR04 Trig</a:t>
                      </a:r>
                      <a:endParaRPr lang="en-GB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Digital Pin 9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3838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GB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HC-SR04 Echo</a:t>
                      </a:r>
                      <a:endParaRPr lang="en-GB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Digital Pin 10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5725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GB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FSR Sensor</a:t>
                      </a:r>
                      <a:endParaRPr lang="en-GB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Analog Pin A0 (requires a 10kΩ pull-down resistor)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9895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GB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LCD (SDA/SCL)</a:t>
                      </a:r>
                      <a:endParaRPr lang="en-GB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Pins A4 &amp; A5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09355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>
            <a:spLocks noGrp="1"/>
          </p:cNvSpPr>
          <p:nvPr>
            <p:ph type="body" idx="1"/>
          </p:nvPr>
        </p:nvSpPr>
        <p:spPr>
          <a:xfrm>
            <a:off x="311700" y="15318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</a:pPr>
            <a:r>
              <a:rPr lang="en-GB" sz="1600" dirty="0">
                <a:solidFill>
                  <a:srgbClr val="595959"/>
                </a:solidFill>
              </a:rPr>
              <a:t>Link to your demo video (3 min) showcasing walkthrough of your product &amp; its features</a:t>
            </a:r>
          </a:p>
          <a:p>
            <a:pPr marL="127000" lvl="0" indent="0" algn="l" rtl="0"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</a:pPr>
            <a:endParaRPr lang="en-GB" sz="1600" dirty="0">
              <a:solidFill>
                <a:srgbClr val="595959"/>
              </a:solidFill>
            </a:endParaRPr>
          </a:p>
          <a:p>
            <a:pPr marL="127000" lvl="0" indent="0" algn="l" rtl="0"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</a:pPr>
            <a:endParaRPr sz="1600" dirty="0">
              <a:solidFill>
                <a:srgbClr val="595959"/>
              </a:solidFill>
            </a:endParaRPr>
          </a:p>
          <a:p>
            <a:pPr marL="12700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</a:pPr>
            <a:endParaRPr sz="1600" dirty="0">
              <a:solidFill>
                <a:srgbClr val="595959"/>
              </a:solidFill>
            </a:endParaRPr>
          </a:p>
        </p:txBody>
      </p:sp>
      <p:sp>
        <p:nvSpPr>
          <p:cNvPr id="113" name="Google Shape;113;p19"/>
          <p:cNvSpPr txBox="1">
            <a:spLocks noGrp="1"/>
          </p:cNvSpPr>
          <p:nvPr>
            <p:ph type="title"/>
          </p:nvPr>
        </p:nvSpPr>
        <p:spPr>
          <a:xfrm>
            <a:off x="311700" y="8040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/>
              <a:t>Working product &amp; demo</a:t>
            </a:r>
            <a:endParaRPr sz="2500"/>
          </a:p>
        </p:txBody>
      </p:sp>
      <p:sp>
        <p:nvSpPr>
          <p:cNvPr id="114" name="Google Shape;114;p19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DEI X VIRTUAL LAB HACKATHON 2026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0" y="4946525"/>
            <a:ext cx="9144000" cy="181800"/>
          </a:xfrm>
          <a:prstGeom prst="rect">
            <a:avLst/>
          </a:prstGeom>
          <a:solidFill>
            <a:srgbClr val="00446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9"/>
          <p:cNvSpPr/>
          <p:nvPr/>
        </p:nvSpPr>
        <p:spPr>
          <a:xfrm>
            <a:off x="848550" y="0"/>
            <a:ext cx="7590600" cy="445200"/>
          </a:xfrm>
          <a:prstGeom prst="rect">
            <a:avLst/>
          </a:prstGeom>
          <a:solidFill>
            <a:srgbClr val="02263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8" name="Google Shape;118;p19" title="images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779650" cy="4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 txBox="1"/>
          <p:nvPr/>
        </p:nvSpPr>
        <p:spPr>
          <a:xfrm>
            <a:off x="2813300" y="0"/>
            <a:ext cx="43110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DEI X VIRTUAL LABS HACKATHON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20" name="Google Shape;120;p19" title="images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22597" y="1"/>
            <a:ext cx="511625" cy="51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WhatsApp Video 2026-01-30 at 23.01.14">
            <a:hlinkClick r:id="" action="ppaction://media"/>
            <a:extLst>
              <a:ext uri="{FF2B5EF4-FFF2-40B4-BE49-F238E27FC236}">
                <a16:creationId xmlns:a16="http://schemas.microsoft.com/office/drawing/2014/main" id="{9FA25CE4-5D2E-4815-B552-158F2B40DFA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52233" y="2050225"/>
            <a:ext cx="2061067" cy="25717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5DDE276-849F-4122-BD32-2ABE3828EFAB}"/>
              </a:ext>
            </a:extLst>
          </p:cNvPr>
          <p:cNvSpPr txBox="1"/>
          <p:nvPr/>
        </p:nvSpPr>
        <p:spPr>
          <a:xfrm>
            <a:off x="3540152" y="2172643"/>
            <a:ext cx="45759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8"/>
              </a:rPr>
              <a:t>https://app.cirkitdesigner.com/project/f8678125-8144-4f5b-bdfb-b81c9f71e1d2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6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B0EFC5-ED1A-431B-B8EA-92B2F214987D}"/>
              </a:ext>
            </a:extLst>
          </p:cNvPr>
          <p:cNvSpPr txBox="1"/>
          <p:nvPr/>
        </p:nvSpPr>
        <p:spPr>
          <a:xfrm>
            <a:off x="181304" y="1370370"/>
            <a:ext cx="45720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Power ON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Arduino initializes sensors, LCD, and buzzer.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Instruction Displayed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LCD shows: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“Place Foot on Platform”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Foot Placement by User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places one foot on the measurement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Foot Detection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Ultrasonic sensors detect foot presence and position.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Foot Length Measurement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 and rear ultrasonic sensors calculate foot length.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Foot Width Measurement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Side ultrasonic sensors measure foot width.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 Pressure Sensing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FSR402 sensor measures pressure under the foot arch.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Arduino processes sensor values and applies logic.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3533EE-C07B-4F77-B1E5-4AFDB7D2B5C9}"/>
              </a:ext>
            </a:extLst>
          </p:cNvPr>
          <p:cNvSpPr txBox="1"/>
          <p:nvPr/>
        </p:nvSpPr>
        <p:spPr>
          <a:xfrm>
            <a:off x="4847897" y="1870814"/>
            <a:ext cx="457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 Type Classification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identifies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Flat / Normal / High Arch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 Display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LCD displays: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Foot Length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Foot Width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 Type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Audio Feedback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Buzzer alerts if abnormal arch pressure is detected.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Measurement Complete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LCD shows: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“Measurement Completed”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Reset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EE25AE-A9D2-496B-A4D1-45130EF51C2E}"/>
              </a:ext>
            </a:extLst>
          </p:cNvPr>
          <p:cNvSpPr txBox="1"/>
          <p:nvPr/>
        </p:nvSpPr>
        <p:spPr>
          <a:xfrm>
            <a:off x="181304" y="90870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highlight>
                  <a:srgbClr val="FFFF00"/>
                </a:highlight>
              </a:rPr>
              <a:t>Process Flow (user journey)</a:t>
            </a:r>
          </a:p>
        </p:txBody>
      </p:sp>
      <p:sp>
        <p:nvSpPr>
          <p:cNvPr id="8" name="Google Shape;130;p20">
            <a:extLst>
              <a:ext uri="{FF2B5EF4-FFF2-40B4-BE49-F238E27FC236}">
                <a16:creationId xmlns:a16="http://schemas.microsoft.com/office/drawing/2014/main" id="{DD42C5D3-07AB-4A66-A384-23C20DA08118}"/>
              </a:ext>
            </a:extLst>
          </p:cNvPr>
          <p:cNvSpPr/>
          <p:nvPr/>
        </p:nvSpPr>
        <p:spPr>
          <a:xfrm>
            <a:off x="1324303" y="88594"/>
            <a:ext cx="5888421" cy="445200"/>
          </a:xfrm>
          <a:prstGeom prst="rect">
            <a:avLst/>
          </a:prstGeom>
          <a:solidFill>
            <a:srgbClr val="02263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DEI X VIRTUAL LABS HACKATHON 2026</a:t>
            </a:r>
          </a:p>
        </p:txBody>
      </p:sp>
      <p:pic>
        <p:nvPicPr>
          <p:cNvPr id="9" name="Google Shape;131;p20" title="images2.png">
            <a:extLst>
              <a:ext uri="{FF2B5EF4-FFF2-40B4-BE49-F238E27FC236}">
                <a16:creationId xmlns:a16="http://schemas.microsoft.com/office/drawing/2014/main" id="{4CB7B4A0-1638-4CF6-B612-BC083E5BC97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6125" y="86711"/>
            <a:ext cx="779650" cy="44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33;p20" title="images.jpeg">
            <a:extLst>
              <a:ext uri="{FF2B5EF4-FFF2-40B4-BE49-F238E27FC236}">
                <a16:creationId xmlns:a16="http://schemas.microsoft.com/office/drawing/2014/main" id="{BBE41456-4922-4C51-A2D5-0DA0A2B0FFE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2562" y="20286"/>
            <a:ext cx="511625" cy="511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4206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>
            <a:spLocks noGrp="1"/>
          </p:cNvSpPr>
          <p:nvPr>
            <p:ph type="body" idx="1"/>
          </p:nvPr>
        </p:nvSpPr>
        <p:spPr>
          <a:xfrm>
            <a:off x="184731" y="1349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and Intuitive Use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only needs to place the foot on the platform; no technical knowledge required.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Quick Measurement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 foot measurement is done within a few seconds.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Visual Feedback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Foot length, width, and arch type are clearly displayed on the LCD screen.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Guided Interaction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On-screen instructions guide the user step-by-step.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Minimal Physical Contact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Ultrasonic sensors provide contactless measurement, ensuring hygiene</a:t>
            </a:r>
            <a:endParaRPr sz="1754" dirty="0"/>
          </a:p>
        </p:txBody>
      </p:sp>
      <p:sp>
        <p:nvSpPr>
          <p:cNvPr id="139" name="Google Shape;139;p21"/>
          <p:cNvSpPr txBox="1">
            <a:spLocks noGrp="1"/>
          </p:cNvSpPr>
          <p:nvPr>
            <p:ph type="title"/>
          </p:nvPr>
        </p:nvSpPr>
        <p:spPr>
          <a:xfrm>
            <a:off x="311700" y="788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User Experience</a:t>
            </a:r>
            <a:endParaRPr dirty="0"/>
          </a:p>
        </p:txBody>
      </p:sp>
      <p:sp>
        <p:nvSpPr>
          <p:cNvPr id="140" name="Google Shape;140;p21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lt1"/>
                </a:solidFill>
              </a:rPr>
              <a:t>DEI X VIRTUAL LAB HACKATHON 2026</a:t>
            </a:r>
            <a:endParaRPr sz="1800" dirty="0">
              <a:solidFill>
                <a:schemeClr val="lt1"/>
              </a:solidFill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0" y="4946525"/>
            <a:ext cx="9144000" cy="181800"/>
          </a:xfrm>
          <a:prstGeom prst="rect">
            <a:avLst/>
          </a:prstGeom>
          <a:solidFill>
            <a:srgbClr val="00446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21"/>
          <p:cNvSpPr/>
          <p:nvPr/>
        </p:nvSpPr>
        <p:spPr>
          <a:xfrm>
            <a:off x="848550" y="0"/>
            <a:ext cx="7590600" cy="445200"/>
          </a:xfrm>
          <a:prstGeom prst="rect">
            <a:avLst/>
          </a:prstGeom>
          <a:solidFill>
            <a:srgbClr val="02263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44" name="Google Shape;144;p21" title="image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79650" cy="4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1"/>
          <p:cNvSpPr txBox="1"/>
          <p:nvPr/>
        </p:nvSpPr>
        <p:spPr>
          <a:xfrm>
            <a:off x="2813300" y="0"/>
            <a:ext cx="41601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DEI X VIRTUAL LABS HACKATHON 2026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146" name="Google Shape;146;p21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2597" y="1"/>
            <a:ext cx="511625" cy="5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>
            <a:spLocks noGrp="1"/>
          </p:cNvSpPr>
          <p:nvPr>
            <p:ph type="body" idx="1"/>
          </p:nvPr>
        </p:nvSpPr>
        <p:spPr>
          <a:xfrm>
            <a:off x="0" y="946149"/>
            <a:ext cx="9144000" cy="3933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600" b="1" dirty="0"/>
              <a:t>Key Challenges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Signal Noise:</a:t>
            </a:r>
            <a:r>
              <a:rPr lang="en-GB" sz="1600" dirty="0"/>
              <a:t> Ultrasonic waves can scatter on irregular foot shapes.</a:t>
            </a:r>
          </a:p>
          <a:p>
            <a:r>
              <a:rPr lang="en-GB" sz="1600" b="1" dirty="0"/>
              <a:t>Environmental Factors:</a:t>
            </a:r>
            <a:r>
              <a:rPr lang="en-GB" sz="1600" dirty="0"/>
              <a:t> Speed of sound varies with ambient temperature.</a:t>
            </a:r>
            <a:r>
              <a:rPr lang="en-GB" sz="1600" b="1" dirty="0"/>
              <a:t> Future Scope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IoT Integration:</a:t>
            </a:r>
            <a:r>
              <a:rPr lang="en-GB" sz="1600" dirty="0"/>
              <a:t> ESP32 upgrade for cloud data logging and mobile app syncing.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Machine Learning:</a:t>
            </a:r>
            <a:r>
              <a:rPr lang="en-GB" sz="1600" dirty="0"/>
              <a:t> Using </a:t>
            </a:r>
            <a:r>
              <a:rPr lang="en-GB" sz="1600" dirty="0" err="1"/>
              <a:t>TinyML</a:t>
            </a:r>
            <a:r>
              <a:rPr lang="en-GB" sz="1600" dirty="0"/>
              <a:t> to predict gait issues based on pressure patterns.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</p:txBody>
      </p:sp>
      <p:sp>
        <p:nvSpPr>
          <p:cNvPr id="152" name="Google Shape;152;p22"/>
          <p:cNvSpPr txBox="1">
            <a:spLocks noGrp="1"/>
          </p:cNvSpPr>
          <p:nvPr>
            <p:ph type="title"/>
          </p:nvPr>
        </p:nvSpPr>
        <p:spPr>
          <a:xfrm>
            <a:off x="175150" y="52362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Challenges and Future scope </a:t>
            </a:r>
            <a:endParaRPr dirty="0"/>
          </a:p>
        </p:txBody>
      </p:sp>
      <p:sp>
        <p:nvSpPr>
          <p:cNvPr id="153" name="Google Shape;153;p22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154" name="Google Shape;154;p22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DEI X VIRTUAL LAB HACKATHON 2026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55" name="Google Shape;155;p22"/>
          <p:cNvSpPr/>
          <p:nvPr/>
        </p:nvSpPr>
        <p:spPr>
          <a:xfrm>
            <a:off x="0" y="4946525"/>
            <a:ext cx="9144000" cy="181800"/>
          </a:xfrm>
          <a:prstGeom prst="rect">
            <a:avLst/>
          </a:prstGeom>
          <a:solidFill>
            <a:srgbClr val="00446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2"/>
          <p:cNvSpPr/>
          <p:nvPr/>
        </p:nvSpPr>
        <p:spPr>
          <a:xfrm>
            <a:off x="848550" y="0"/>
            <a:ext cx="7590600" cy="445200"/>
          </a:xfrm>
          <a:prstGeom prst="rect">
            <a:avLst/>
          </a:prstGeom>
          <a:solidFill>
            <a:srgbClr val="02263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7" name="Google Shape;157;p22" title="image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79650" cy="4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2"/>
          <p:cNvSpPr txBox="1"/>
          <p:nvPr/>
        </p:nvSpPr>
        <p:spPr>
          <a:xfrm>
            <a:off x="2813300" y="0"/>
            <a:ext cx="42879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DEI X VIRTUAL LABS HACKATHON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59" name="Google Shape;159;p22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2597" y="1"/>
            <a:ext cx="511625" cy="5116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383C78F-5977-4DF1-8F24-E9BF6FFC3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3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3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2597" y="1"/>
            <a:ext cx="511625" cy="51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3"/>
          <p:cNvSpPr/>
          <p:nvPr/>
        </p:nvSpPr>
        <p:spPr>
          <a:xfrm>
            <a:off x="779650" y="0"/>
            <a:ext cx="7689600" cy="445200"/>
          </a:xfrm>
          <a:prstGeom prst="rect">
            <a:avLst/>
          </a:prstGeom>
          <a:solidFill>
            <a:srgbClr val="02263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23" title="images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779650" cy="4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3"/>
          <p:cNvSpPr txBox="1"/>
          <p:nvPr/>
        </p:nvSpPr>
        <p:spPr>
          <a:xfrm>
            <a:off x="2813300" y="0"/>
            <a:ext cx="42747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DEI X VIRTUAL LABS HACKATHON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9" name="Google Shape;169;p23"/>
          <p:cNvSpPr txBox="1"/>
          <p:nvPr/>
        </p:nvSpPr>
        <p:spPr>
          <a:xfrm>
            <a:off x="7087925" y="1602150"/>
            <a:ext cx="9024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rgbClr val="1C5880"/>
                </a:solidFill>
                <a:latin typeface="Oswald"/>
                <a:ea typeface="Oswald"/>
                <a:cs typeface="Oswald"/>
                <a:sym typeface="Oswald"/>
              </a:rPr>
              <a:t>S</a:t>
            </a:r>
            <a:endParaRPr sz="3900">
              <a:solidFill>
                <a:srgbClr val="1C588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70" name="Google Shape;170;p23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2597" y="1"/>
            <a:ext cx="511625" cy="51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3"/>
          <p:cNvPicPr preferRelativeResize="0"/>
          <p:nvPr/>
        </p:nvPicPr>
        <p:blipFill rotWithShape="1">
          <a:blip r:embed="rId6">
            <a:alphaModFix/>
          </a:blip>
          <a:srcRect l="6660" r="-6660" b="-80799"/>
          <a:stretch/>
        </p:blipFill>
        <p:spPr>
          <a:xfrm>
            <a:off x="8198150" y="445200"/>
            <a:ext cx="1043900" cy="21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3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2600" y="0"/>
            <a:ext cx="549100" cy="44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1213</Words>
  <Application>Microsoft Office PowerPoint</Application>
  <PresentationFormat>On-screen Show (16:9)</PresentationFormat>
  <Paragraphs>182</Paragraphs>
  <Slides>13</Slides>
  <Notes>9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Verdana</vt:lpstr>
      <vt:lpstr>Arial</vt:lpstr>
      <vt:lpstr>Google Sans Text</vt:lpstr>
      <vt:lpstr>Oswald</vt:lpstr>
      <vt:lpstr>Roboto</vt:lpstr>
      <vt:lpstr>Simple Light</vt:lpstr>
      <vt:lpstr>PowerPoint Presentation</vt:lpstr>
      <vt:lpstr>The Problem Statement</vt:lpstr>
      <vt:lpstr>PowerPoint Presentation</vt:lpstr>
      <vt:lpstr>PowerPoint Presentation</vt:lpstr>
      <vt:lpstr>Your Solution &amp; Innovation</vt:lpstr>
      <vt:lpstr>Architecture Diagram</vt:lpstr>
      <vt:lpstr>PowerPoint Presentation</vt:lpstr>
      <vt:lpstr>Technical Stack</vt:lpstr>
      <vt:lpstr>Working product &amp; demo</vt:lpstr>
      <vt:lpstr>PowerPoint Presentation</vt:lpstr>
      <vt:lpstr>User Experience</vt:lpstr>
      <vt:lpstr>Challenges and Future scope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KHATU SHAYAM JI</dc:creator>
  <cp:lastModifiedBy>Saurabh Sharma</cp:lastModifiedBy>
  <cp:revision>12</cp:revision>
  <dcterms:modified xsi:type="dcterms:W3CDTF">2026-01-30T18:05:29Z</dcterms:modified>
</cp:coreProperties>
</file>